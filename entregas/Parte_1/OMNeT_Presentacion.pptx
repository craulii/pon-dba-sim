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586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5943600" y="457200"/>
            <a:ext cx="2926080" cy="4389120"/>
          </a:xfrm>
          <a:prstGeom prst="rect">
            <a:avLst/>
          </a:prstGeom>
          <a:solidFill>
            <a:srgbClr val="112240">
              <a:alpha val="40000"/>
            </a:srgbClr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3716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9144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OMNeT++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731520" y="1920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Event Network Simulator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31520" y="2743200"/>
            <a:ext cx="27432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73152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de Computadores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5204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 del Equipo: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</a:t>
            </a:r>
            <a:r>
              <a:rPr lang="en-US" sz="12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Retuerto</a:t>
            </a:r>
            <a:endParaRPr lang="en-US" sz="1200" dirty="0">
              <a:solidFill>
                <a:srgbClr val="CBD5E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José Vega</a:t>
            </a:r>
          </a:p>
          <a:p>
            <a:pPr marL="0" indent="0">
              <a:buNone/>
            </a:pPr>
            <a:r>
              <a:rPr lang="en-US" sz="12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Matías Perelli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de Abril,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2E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OMNeT++?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OMNeT++ es un framework modular de simulación de eventos discretos basado en C++, diseñado principalmente para construir simuladores de redes. Disponible desde 1997, se distribuye bajo la Academic Public License (APL), gratuito para uso académico y no comercial. No es un simulador en sí, sino una plataforma sobre la cual se construyen simuladores mediante frameworks como INET y Veins.</a:t>
            </a:r>
            <a:endParaRPr lang="en-US" sz="1100" b="1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redes que simula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54864" cy="10515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27157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TCP/IP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05840" y="299008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IPv4, IPv6, TCP, UDP, OSPF, BGP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mediante INET Framework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291840" y="260604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0"/>
          <p:cNvSpPr/>
          <p:nvPr/>
        </p:nvSpPr>
        <p:spPr>
          <a:xfrm>
            <a:off x="3291840" y="2606040"/>
            <a:ext cx="54864" cy="10515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2743200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40480" y="27157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Inalámbricas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840480" y="299008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802.11, ad-hoc, mesh,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networks (WSN), LTE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6126480" y="260604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8" name="Shape 14"/>
          <p:cNvSpPr/>
          <p:nvPr/>
        </p:nvSpPr>
        <p:spPr>
          <a:xfrm>
            <a:off x="6126480" y="2606040"/>
            <a:ext cx="54864" cy="10515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274320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75120" y="27157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Vehiculares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675120" y="299008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VANET con Veins + SUMO para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de movilidad vehicular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57200" y="384048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3" name="Shape 18"/>
          <p:cNvSpPr/>
          <p:nvPr/>
        </p:nvSpPr>
        <p:spPr>
          <a:xfrm>
            <a:off x="457200" y="3840480"/>
            <a:ext cx="54864" cy="10515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977640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05840" y="39502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on-chip (NoC)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005840" y="422452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de interconexiones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multiprocesadores y SoCs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3291840" y="384048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8" name="Shape 22"/>
          <p:cNvSpPr/>
          <p:nvPr/>
        </p:nvSpPr>
        <p:spPr>
          <a:xfrm>
            <a:off x="3291840" y="3840480"/>
            <a:ext cx="54864" cy="10515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3977640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840480" y="39502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SDN / Cloud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3840480" y="422452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OpenFlow, cloud computing,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definidas por software</a:t>
            </a:r>
            <a:endParaRPr lang="en-US" sz="850" dirty="0"/>
          </a:p>
        </p:txBody>
      </p:sp>
      <p:sp>
        <p:nvSpPr>
          <p:cNvPr id="32" name="Shape 25"/>
          <p:cNvSpPr/>
          <p:nvPr/>
        </p:nvSpPr>
        <p:spPr>
          <a:xfrm>
            <a:off x="6126480" y="384048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3" name="Shape 26"/>
          <p:cNvSpPr/>
          <p:nvPr/>
        </p:nvSpPr>
        <p:spPr>
          <a:xfrm>
            <a:off x="6126480" y="3840480"/>
            <a:ext cx="54864" cy="10515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3977640"/>
            <a:ext cx="292608" cy="29260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675120" y="39502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distribuidos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6675120" y="422452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Colas, procesos paralelos,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de rendimiento</a:t>
            </a:r>
            <a:endParaRPr lang="en-US" sz="850" dirty="0"/>
          </a:p>
        </p:txBody>
      </p:sp>
      <p:sp>
        <p:nvSpPr>
          <p:cNvPr id="37" name="Shape 2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8" name="Text 30"/>
          <p:cNvSpPr/>
          <p:nvPr/>
        </p:nvSpPr>
        <p:spPr>
          <a:xfrm>
            <a:off x="457200" y="4709160"/>
            <a:ext cx="73152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OMNeT++ — Simulador de Redes  |  Redes de Computadores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8229600" y="4709160"/>
            <a:ext cx="73152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2E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y Limitaciones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447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modular: componentes reutilizables definidos en NED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74520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1847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de eventos discretos de alto rendimiento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04288"/>
            <a:ext cx="219456" cy="2194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7240" y="22768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Eclipse con editor </a:t>
            </a:r>
            <a:r>
              <a:rPr lang="en-US" sz="10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NED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34056"/>
            <a:ext cx="219456" cy="21945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77240" y="27066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integrado con Pandas y Matplotlib en el IDE</a:t>
            </a:r>
            <a:endParaRPr lang="en-US" sz="10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43425"/>
            <a:ext cx="219456" cy="21945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777240" y="3115993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vía frameworks (INET, Veins, Simu5G, etc.)</a:t>
            </a:r>
            <a:endParaRPr lang="en-US" sz="1000" dirty="0"/>
          </a:p>
        </p:txBody>
      </p:sp>
      <p:sp>
        <p:nvSpPr>
          <p:cNvPr id="19" name="Text 10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sz="15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444752"/>
            <a:ext cx="219456" cy="219456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074920" y="1417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conocimientos de C++ para módulos simples</a:t>
            </a:r>
            <a:endParaRPr lang="en-US" sz="10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874520"/>
            <a:ext cx="219456" cy="219456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074920" y="18470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simulador por sí solo (necesita frameworks)</a:t>
            </a:r>
            <a:endParaRPr lang="en-US" sz="1000" dirty="0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297956"/>
            <a:ext cx="219456" cy="219456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5074920" y="22705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 variable según el modelo y la topología</a:t>
            </a:r>
            <a:endParaRPr lang="en-US" sz="1000" dirty="0"/>
          </a:p>
        </p:txBody>
      </p:sp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727724"/>
            <a:ext cx="219456" cy="219456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5074920" y="27002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 académica restringe uso comercial (requiere OMNEST)</a:t>
            </a:r>
            <a:endParaRPr lang="en-US" sz="1000" dirty="0"/>
          </a:p>
        </p:txBody>
      </p:sp>
      <p:pic>
        <p:nvPicPr>
          <p:cNvPr id="3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214463"/>
            <a:ext cx="219456" cy="219456"/>
          </a:xfrm>
          <a:prstGeom prst="rect">
            <a:avLst/>
          </a:prstGeom>
        </p:spPr>
      </p:pic>
      <p:sp>
        <p:nvSpPr>
          <p:cNvPr id="33" name="Text 17"/>
          <p:cNvSpPr/>
          <p:nvPr/>
        </p:nvSpPr>
        <p:spPr>
          <a:xfrm>
            <a:off x="5074920" y="3172963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fragmentada entre frameworks</a:t>
            </a:r>
            <a:endParaRPr lang="en-US" sz="1000" dirty="0"/>
          </a:p>
        </p:txBody>
      </p:sp>
      <p:sp>
        <p:nvSpPr>
          <p:cNvPr id="34" name="Shape 18"/>
          <p:cNvSpPr/>
          <p:nvPr/>
        </p:nvSpPr>
        <p:spPr>
          <a:xfrm>
            <a:off x="4572000" y="1005840"/>
            <a:ext cx="0" cy="34747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Shape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6" name="Text 20"/>
          <p:cNvSpPr/>
          <p:nvPr/>
        </p:nvSpPr>
        <p:spPr>
          <a:xfrm>
            <a:off x="457200" y="4709160"/>
            <a:ext cx="73152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OMNeT++ — Simulador de Redes  |  Redes de Computadores</a:t>
            </a:r>
            <a:endParaRPr lang="en-US" sz="900" dirty="0"/>
          </a:p>
        </p:txBody>
      </p:sp>
      <p:sp>
        <p:nvSpPr>
          <p:cNvPr id="37" name="Text 21"/>
          <p:cNvSpPr/>
          <p:nvPr/>
        </p:nvSpPr>
        <p:spPr>
          <a:xfrm>
            <a:off x="8229600" y="4709160"/>
            <a:ext cx="73152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2E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y Desventajas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DESVENTAJAS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15087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 para uso académico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8680" y="1737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 Academic Public License,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fuente disponible</a:t>
            </a:r>
            <a:endParaRPr lang="en-US" sz="8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1284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216712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modular superior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68680" y="2395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reutilizables vía NED,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 e interfaces parametrizables</a:t>
            </a:r>
            <a:endParaRPr lang="en-US" sz="8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71216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" y="28254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profesional (Eclipse)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868680" y="305409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gráfico NED, depurador visual,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integrado de resultados</a:t>
            </a:r>
            <a:endParaRPr lang="en-US" sz="8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29584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68680" y="348386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Amplio ecosistema de frameworks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868680" y="37124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INET, Veins y Simu5G cubren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dominios de red</a:t>
            </a:r>
            <a:endParaRPr lang="en-US" sz="8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87952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68680" y="41422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Referente académico mundial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868680" y="43708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de papers publicados,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credibilidad en investigación</a:t>
            </a:r>
            <a:endParaRPr lang="en-US" sz="8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554480"/>
            <a:ext cx="237744" cy="23774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166360" y="15087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aprendizaje alta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5166360" y="1737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dominio de C++, NED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el framework específico</a:t>
            </a:r>
            <a:endParaRPr lang="en-US" sz="85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212848"/>
            <a:ext cx="237744" cy="23774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166360" y="216712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de configuración</a:t>
            </a:r>
            <a:endParaRPr lang="en-US" sz="1050" dirty="0"/>
          </a:p>
        </p:txBody>
      </p:sp>
      <p:sp>
        <p:nvSpPr>
          <p:cNvPr id="28" name="Text 19"/>
          <p:cNvSpPr/>
          <p:nvPr/>
        </p:nvSpPr>
        <p:spPr>
          <a:xfrm>
            <a:off x="5166360" y="2395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 entre versiones de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OMNeT++, INET y OS puede ser frágil</a:t>
            </a:r>
            <a:endParaRPr lang="en-US" sz="85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871216"/>
            <a:ext cx="237744" cy="23774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166360" y="28254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en redes grandes</a:t>
            </a:r>
            <a:endParaRPr lang="en-US" sz="1050" dirty="0"/>
          </a:p>
        </p:txBody>
      </p:sp>
      <p:sp>
        <p:nvSpPr>
          <p:cNvPr id="31" name="Text 21"/>
          <p:cNvSpPr/>
          <p:nvPr/>
        </p:nvSpPr>
        <p:spPr>
          <a:xfrm>
            <a:off x="5166360" y="305409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 depende del modelo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configuración utilizada</a:t>
            </a:r>
            <a:endParaRPr lang="en-US" sz="85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529584"/>
            <a:ext cx="237744" cy="237744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5166360" y="348386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más reducida</a:t>
            </a:r>
            <a:endParaRPr lang="en-US" sz="1050" dirty="0"/>
          </a:p>
        </p:txBody>
      </p:sp>
      <p:sp>
        <p:nvSpPr>
          <p:cNvPr id="34" name="Text 23"/>
          <p:cNvSpPr/>
          <p:nvPr/>
        </p:nvSpPr>
        <p:spPr>
          <a:xfrm>
            <a:off x="5166360" y="37124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tutoriales y foros disponibles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 con otros simuladores</a:t>
            </a:r>
            <a:endParaRPr lang="en-US" sz="85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4187952"/>
            <a:ext cx="237744" cy="237744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5166360" y="41422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comercial restringido</a:t>
            </a:r>
            <a:endParaRPr lang="en-US" sz="1050" dirty="0"/>
          </a:p>
        </p:txBody>
      </p:sp>
      <p:sp>
        <p:nvSpPr>
          <p:cNvPr id="37" name="Text 25"/>
          <p:cNvSpPr/>
          <p:nvPr/>
        </p:nvSpPr>
        <p:spPr>
          <a:xfrm>
            <a:off x="5166360" y="43708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 académica requiere licencia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 separada (OMNEST)</a:t>
            </a:r>
            <a:endParaRPr lang="en-US" sz="850" dirty="0"/>
          </a:p>
        </p:txBody>
      </p:sp>
      <p:sp>
        <p:nvSpPr>
          <p:cNvPr id="38" name="Shape 26"/>
          <p:cNvSpPr/>
          <p:nvPr/>
        </p:nvSpPr>
        <p:spPr>
          <a:xfrm>
            <a:off x="4572000" y="1005840"/>
            <a:ext cx="0" cy="34747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Shape 2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0" name="Text 28"/>
          <p:cNvSpPr/>
          <p:nvPr/>
        </p:nvSpPr>
        <p:spPr>
          <a:xfrm>
            <a:off x="457200" y="4709160"/>
            <a:ext cx="73152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OMNeT++ — Simulador de Redes  |  Redes de Computadores</a:t>
            </a:r>
            <a:endParaRPr lang="en-US" sz="900" dirty="0"/>
          </a:p>
        </p:txBody>
      </p:sp>
      <p:sp>
        <p:nvSpPr>
          <p:cNvPr id="41" name="Text 29"/>
          <p:cNvSpPr/>
          <p:nvPr/>
        </p:nvSpPr>
        <p:spPr>
          <a:xfrm>
            <a:off x="8229600" y="4709160"/>
            <a:ext cx="73152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2E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Crítico: Calidad del Software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" cy="7498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344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88720" y="1435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017520" y="11430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por diseño: módulos simples + compuestos + NED.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clara entre modelo y simulación.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1920240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Shape 8"/>
          <p:cNvSpPr/>
          <p:nvPr/>
        </p:nvSpPr>
        <p:spPr>
          <a:xfrm>
            <a:off x="457200" y="1920240"/>
            <a:ext cx="54864" cy="7498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1031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19933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188720" y="23042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017520" y="20116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continuo desde 1997. Versión 6.3 actual (Nov 2025).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INET Framework mantenido por el equipo core.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2788920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3"/>
          <p:cNvSpPr/>
          <p:nvPr/>
        </p:nvSpPr>
        <p:spPr>
          <a:xfrm>
            <a:off x="457200" y="2788920"/>
            <a:ext cx="54864" cy="7498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9718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28620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188720" y="31729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017520" y="28803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Eclipse potente pero complejo. GUI de simulación animada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excelente (Qtenv). Configuración inicial difícil.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57200" y="3657600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3" name="Shape 18"/>
          <p:cNvSpPr/>
          <p:nvPr/>
        </p:nvSpPr>
        <p:spPr>
          <a:xfrm>
            <a:off x="457200" y="3657600"/>
            <a:ext cx="54864" cy="7498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84048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88720" y="3730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188720" y="4041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3017520" y="37490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maduro de casi 30 años. Algunos problemas 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 entre versiones de frameworks.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57200" y="4526280"/>
            <a:ext cx="822960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Shape 2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4"/>
          <p:cNvSpPr/>
          <p:nvPr/>
        </p:nvSpPr>
        <p:spPr>
          <a:xfrm>
            <a:off x="457200" y="4709160"/>
            <a:ext cx="73152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OMNeT++ — Simulador de Redes  |  Redes de Computadores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8229600" y="4709160"/>
            <a:ext cx="73152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2E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Crítico: Credibilidad de Resultados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pueden validar o verificar los resultados de OMNeT++?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4864" cy="1463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544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508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credibilidad — Validado por la comunidad científica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88720" y="187452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de papers IEEE y ACM usan OMNeT++ como herramienta de simulación, validando sus modelos contra resultados teóricos y testbeds reales. El modelo 802.11 de INET ha sido validado comparándolo con implementaciones de referencia como NS-3. Los resultados se exportan como vectores y escalares analizables con Pandas, R o Matlab para reproducibilidad completa.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3063240"/>
            <a:ext cx="82296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Shape 8"/>
          <p:cNvSpPr/>
          <p:nvPr/>
        </p:nvSpPr>
        <p:spPr>
          <a:xfrm>
            <a:off x="457200" y="3063240"/>
            <a:ext cx="54864" cy="1417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004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3154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Consideraciones importantes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188720" y="352044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simulación, no emulación: los modelos son abstracciones, no réplicas exactas del hardware. La precisión depende del framework y la configuración del modelo usado. Resultados pueden variar entre versiones de INET si los modelos internos cambian. Se recomienda siempre validar contra modelos analíticos o testbeds cuando sea posible.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2"/>
          <p:cNvSpPr/>
          <p:nvPr/>
        </p:nvSpPr>
        <p:spPr>
          <a:xfrm>
            <a:off x="457200" y="4709160"/>
            <a:ext cx="73152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OMNeT++ — Simulador de Redes  |  Redes de Computadores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8229600" y="4709160"/>
            <a:ext cx="73152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mejoraríamos de OMNeT++?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685800" y="1216152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85800" y="1216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1247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gestión de dependencias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4173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bien opp_env es un avance reciente, falta un sistema tipo package manager maduro para instalar y actualizar frameworks sin conflictos de versiones.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685800" y="2176272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685800" y="2176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08483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la barrera de entrada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23774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scripting en Python para módulos simples, no solo C++. Incorporar más ejemplos interactivos y tutoriales guiados para nuevos usuarios.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975312"/>
            <a:ext cx="8229600" cy="82296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685800" y="3139904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20" name="Text 18"/>
          <p:cNvSpPr/>
          <p:nvPr/>
        </p:nvSpPr>
        <p:spPr>
          <a:xfrm>
            <a:off x="685800" y="31399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</a:p>
        </p:txBody>
      </p:sp>
      <p:sp>
        <p:nvSpPr>
          <p:cNvPr id="21" name="Text 19"/>
          <p:cNvSpPr/>
          <p:nvPr/>
        </p:nvSpPr>
        <p:spPr>
          <a:xfrm>
            <a:off x="1371600" y="304846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en la nube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334107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para correr simulaciones sin instalación local, ideal para docencia, colaboración y reproducibilidad de resultados.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OMNeT++ — Simulador de Redes  |  Redes de Computadores  |  USM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798</Words>
  <Application>Microsoft Office PowerPoint</Application>
  <PresentationFormat>Presentación en pantalla (16:9)</PresentationFormat>
  <Paragraphs>126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OMNeT++ - Simulador de Redes</dc:title>
  <dc:subject>PptxGenJS Presentation</dc:subject>
  <dc:creator>Equipo OMNeT++</dc:creator>
  <cp:lastModifiedBy>Jose Vargas Vega (Alumno)</cp:lastModifiedBy>
  <cp:revision>3</cp:revision>
  <dcterms:created xsi:type="dcterms:W3CDTF">2026-04-12T22:25:05Z</dcterms:created>
  <dcterms:modified xsi:type="dcterms:W3CDTF">2026-04-15T20:36:04Z</dcterms:modified>
</cp:coreProperties>
</file>