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0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88952" cy="27432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977639"/>
            <a:ext cx="12188952" cy="1371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Avances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BED2F0"/>
                </a:solidFill>
              </a:rPr>
              <a:t>Evaluación de Algoritmos DBA en Redes PON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BED2F0"/>
                </a:solidFill>
              </a:rPr>
              <a:t>bajo Tráfico 5G Multi-Servicio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0BEE6"/>
                </a:solidFill>
              </a:rPr>
              <a:t>TEL-341 Simulación de Redes  —  Presentación de Avances Nº 2</a:t>
            </a:r>
          </a:p>
        </p:txBody>
      </p:sp>
      <p:sp>
        <p:nvSpPr>
          <p:cNvPr id="9" name="Oval 8"/>
          <p:cNvSpPr/>
          <p:nvPr/>
        </p:nvSpPr>
        <p:spPr>
          <a:xfrm>
            <a:off x="1371600" y="4389120"/>
            <a:ext cx="2286000" cy="457200"/>
          </a:xfrm>
          <a:prstGeom prst="ellipse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OmneTeam</a:t>
            </a:r>
          </a:p>
        </p:txBody>
      </p:sp>
      <p:sp>
        <p:nvSpPr>
          <p:cNvPr id="10" name="Oval 9"/>
          <p:cNvSpPr/>
          <p:nvPr/>
        </p:nvSpPr>
        <p:spPr>
          <a:xfrm>
            <a:off x="3931920" y="4389120"/>
            <a:ext cx="2926080" cy="457200"/>
          </a:xfrm>
          <a:prstGeom prst="ellipse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David · José · Matías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0" y="4389120"/>
            <a:ext cx="2286000" cy="457200"/>
          </a:xfrm>
          <a:prstGeom prst="ellipse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UTFSM  — 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A5A5A"/>
                </a:solidFill>
              </a:rPr>
              <a:t>Simulación event-driven en OMNeT++ 6  •  C++17  •  Tráfico 5G (eMBB / URLLC / mMTC)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ED2F0"/>
                </a:solidFill>
              </a:rPr>
              <a:t>OmneTeam  |  TEL-341 Simulación de Redes  |  UTFSM  | 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0" y="65562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ED2F0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Objetivo y Motivación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ED2F0"/>
                </a:solidFill>
              </a:rPr>
              <a:t>¿Puede un algoritmo de scheduling proteger URLLC en un canal compartido?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234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F77B4"/>
                </a:solidFill>
              </a:rPr>
              <a:t>Contexto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5303520" cy="493776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A7A"/>
                </a:solidFill>
              </a:rPr>
              <a:t>El Problema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E1E1E"/>
                </a:solidFill>
              </a:rPr>
              <a:t>En 5G, las redes PON actúan como backhaul: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E1E1E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77B4"/>
                </a:solidFill>
              </a:rPr>
              <a:t>  eMBB  →  streaming, alta tasa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D62728"/>
                </a:solidFill>
              </a:rPr>
              <a:t>  URLLC  →  latencia &lt; 10 ms (crítico)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FF7F0E"/>
                </a:solidFill>
              </a:rPr>
              <a:t>  mMTC  →  millones de sensores IoT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E1E1E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E1E1E"/>
                </a:solidFill>
              </a:rPr>
              <a:t>El canal upstream de una red PON es TDM: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E1E1E"/>
                </a:solidFill>
              </a:rPr>
              <a:t>solo transmite una ONU a la vez.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E1E1E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E1E1E"/>
                </a:solidFill>
              </a:rPr>
              <a:t>IPACT (estándar) trata todos los paquetes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E1E1E"/>
                </a:solidFill>
              </a:rPr>
              <a:t>igual — no distingue eMBB de URLLC.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E1E1E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E1E1E"/>
                </a:solidFill>
              </a:rPr>
              <a:t>Consecuencia: las ráfagas eMBB (Pareto)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D62728"/>
                </a:solidFill>
              </a:rPr>
              <a:t>agotan el canal y URLLC se descarta.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325880"/>
            <a:ext cx="5943600" cy="493776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4173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A7A"/>
                </a:solidFill>
              </a:rPr>
              <a:t>Clases de Tráfico 5G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2011680"/>
            <a:ext cx="1335024" cy="466344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210312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Clase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2011680"/>
            <a:ext cx="1883664" cy="466344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21031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Distribución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8320" y="2011680"/>
            <a:ext cx="1883664" cy="466344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64040" y="21031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Requisito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2514600"/>
            <a:ext cx="1335024" cy="466344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260604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eMBB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2514600"/>
            <a:ext cx="1883664" cy="466344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26060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Pareto (α=1.5)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18320" y="2514600"/>
            <a:ext cx="1883664" cy="466344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64040" y="26060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Throughput alto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3017520"/>
            <a:ext cx="1335024" cy="466344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310896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URLLC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79" y="3017520"/>
            <a:ext cx="1883664" cy="466344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43800" y="31089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Poisson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18320" y="3017520"/>
            <a:ext cx="1883664" cy="466344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64040" y="31089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Latencia &lt; 10 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3520440"/>
            <a:ext cx="1335024" cy="466344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0" y="361188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mMTC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79" y="3520440"/>
            <a:ext cx="1883664" cy="466344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43800" y="36118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Periódico ±20%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18320" y="3520440"/>
            <a:ext cx="1883664" cy="466344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64040" y="36118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Baja tasa, escala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41605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62728"/>
                </a:solidFill>
              </a:rPr>
              <a:t>★  Hipótesis: bajo carga real, IPACT falla en URLLC.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45262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A02C"/>
                </a:solidFill>
              </a:rPr>
              <a:t>★  QoS-DBA con prioridad estricta puede resolverlo.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ED2F0"/>
                </a:solidFill>
              </a:rPr>
              <a:t>OmneTeam  |  TEL-341 Simulación de Redes  |  UTFSM  | 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704320" y="65562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ED2F0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Arquitectura de la Red Simulada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ED2F0"/>
                </a:solidFill>
              </a:rPr>
              <a:t>OLT + Splitter 1:16 + 16 ONUs  |  Canal upstream TDM 1 Gbps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234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F77B4"/>
                </a:solidFill>
              </a:rPr>
              <a:t>Modelo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2011680" cy="1097280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OLT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4D2F0"/>
                </a:solidFill>
              </a:rPr>
              <a:t>Motor DBA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2057400"/>
            <a:ext cx="1371600" cy="54864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213055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5A5A"/>
                </a:solidFill>
              </a:rPr>
              <a:t>Fibra troncal
100 μs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39" y="1554480"/>
            <a:ext cx="1554480" cy="10972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17373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Splitter
1:16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1783080"/>
            <a:ext cx="1097280" cy="54864"/>
          </a:xfrm>
          <a:prstGeom prst="rect">
            <a:avLst/>
          </a:prstGeom>
          <a:solidFill>
            <a:srgbClr val="C8C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508760"/>
            <a:ext cx="1371600" cy="731520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645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ONU 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0" y="2788920"/>
            <a:ext cx="1097280" cy="54864"/>
          </a:xfrm>
          <a:prstGeom prst="rect">
            <a:avLst/>
          </a:prstGeom>
          <a:solidFill>
            <a:srgbClr val="C8C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2514600"/>
            <a:ext cx="1371600" cy="731520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651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ONU 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0" y="3794760"/>
            <a:ext cx="1097280" cy="54864"/>
          </a:xfrm>
          <a:prstGeom prst="rect">
            <a:avLst/>
          </a:prstGeom>
          <a:solidFill>
            <a:srgbClr val="C8C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520440"/>
            <a:ext cx="1371600" cy="731520"/>
          </a:xfrm>
          <a:prstGeom prst="rect">
            <a:avLst/>
          </a:prstGeom>
          <a:solidFill>
            <a:srgbClr val="C8C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657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...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0" y="4800600"/>
            <a:ext cx="1097280" cy="54864"/>
          </a:xfrm>
          <a:prstGeom prst="rect">
            <a:avLst/>
          </a:prstGeom>
          <a:solidFill>
            <a:srgbClr val="C8C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4526280"/>
            <a:ext cx="1371600" cy="731520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663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ONU 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28346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5A5A"/>
                </a:solidFill>
              </a:rPr>
              <a:t>Distribución
10 μs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1325880"/>
            <a:ext cx="3749039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14173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A7A"/>
                </a:solidFill>
              </a:rPr>
              <a:t>Parámetros clave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192024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</a:rPr>
              <a:t>numONUs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192024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A7A"/>
                </a:solidFill>
              </a:rPr>
              <a:t>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35915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</a:rPr>
              <a:t>dataRate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0" y="235915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A7A"/>
                </a:solidFill>
              </a:rPr>
              <a:t>1 Gbps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279806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</a:rPr>
              <a:t>pollingCycle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0" y="279806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A7A"/>
                </a:solidFill>
              </a:rPr>
              <a:t>2 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23697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</a:rPr>
              <a:t>maxGrantSize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9840" y="323697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A7A"/>
                </a:solidFill>
              </a:rPr>
              <a:t>15 000 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3675887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</a:rPr>
              <a:t>guardTime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0" y="3675887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A7A"/>
                </a:solidFill>
              </a:rPr>
              <a:t>1 μs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41148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</a:rPr>
              <a:t>urllcDeadline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49840" y="411480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A7A"/>
                </a:solidFill>
              </a:rPr>
              <a:t>10 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45537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</a:rPr>
              <a:t>urllcRate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49840" y="455371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A7A"/>
                </a:solidFill>
              </a:rPr>
              <a:t>5 Mbps / ONU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499262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</a:rPr>
              <a:t>mmtcRate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49840" y="499262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A7A"/>
                </a:solidFill>
              </a:rPr>
              <a:t>0.5 Mbps / ONU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543153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</a:rPr>
              <a:t>embbRate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49840" y="543153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A7A"/>
                </a:solidFill>
              </a:rPr>
              <a:t>50–200 Mbps / ONU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587044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</a:rPr>
              <a:t>Repeticiones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49840" y="587044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A7A"/>
                </a:solidFill>
              </a:rPr>
              <a:t>3 (→ 10 pendiente)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ED2F0"/>
                </a:solidFill>
              </a:rPr>
              <a:t>OmneTeam  |  TEL-341 Simulación de Redes  |  UTFSM  | 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704320" y="65562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ED2F0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Algoritmos DBA Implementados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ED2F0"/>
                </a:solidFill>
              </a:rPr>
              <a:t>IPACT (estándar) vs QoS-DBA (propuesto)  —  intercambiables por parámetro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234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F77B4"/>
                </a:solidFill>
              </a:rPr>
              <a:t>DBA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5394960" cy="5212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5394960" cy="5029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IPACT  —  Estándar IEEE 802.3ah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F77B4"/>
                </a:solidFill>
              </a:rPr>
              <a:t>Polling proporcional sin QoS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1E1E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1E1E"/>
                </a:solidFill>
              </a:rPr>
              <a:t>1. OLT envía POLL a todas las ONUs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1E1E"/>
                </a:solidFill>
              </a:rPr>
              <a:t>2. ONU responde REPORT (total de bytes)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1E1E"/>
                </a:solidFill>
              </a:rPr>
              <a:t>3. OLT asigna grant proporcional al total: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A5A5A"/>
                </a:solidFill>
              </a:rPr>
              <a:t>   grant_eMBB  = total × (eMBB_bytes/total)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A5A5A"/>
                </a:solidFill>
              </a:rPr>
              <a:t>   grant_URLLC = total × (URLLC_bytes/total)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1E1E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D62728"/>
                </a:solidFill>
              </a:rPr>
              <a:t>Problema: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D62728"/>
                </a:solidFill>
              </a:rPr>
              <a:t>  Ráfaga Pareto eMBB → eMBB domina total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D62728"/>
                </a:solidFill>
              </a:rPr>
              <a:t>  → URLLC recibe ~2 % del grant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D62728"/>
                </a:solidFill>
              </a:rPr>
              <a:t>  → Cola URLLC crece, supera deadline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D62728"/>
                </a:solidFill>
              </a:rPr>
              <a:t>  → Descarte masivo de URLLC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325880"/>
            <a:ext cx="5577840" cy="5212080"/>
          </a:xfrm>
          <a:prstGeom prst="rect">
            <a:avLst/>
          </a:prstGeom>
          <a:solidFill>
            <a:srgbClr val="FFFFFF"/>
          </a:solidFill>
          <a:ln w="1905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325880"/>
            <a:ext cx="5577840" cy="5029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3716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QoS-DBA  —  Algoritmo Propuesto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2024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D62728"/>
                </a:solidFill>
              </a:rPr>
              <a:t>Prioridad estricta + WFQ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1E1E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D62728"/>
                </a:solidFill>
              </a:rPr>
              <a:t>Paso 1 — URLLC con prioridad absoluta: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1E1E"/>
                </a:solidFill>
              </a:rPr>
              <a:t>  grant_URLLC = min(URLLC_queue, cap)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1E1E"/>
                </a:solidFill>
              </a:rPr>
              <a:t>  remaining   = cap − grant_URLLC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1E1E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77B4"/>
                </a:solidFill>
              </a:rPr>
              <a:t>Paso 2 — WFQ entre eMBB y mMTC: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1E1E"/>
                </a:solidFill>
              </a:rPr>
              <a:t>  grant_eMBB  = remaining × 70 %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1E1E"/>
                </a:solidFill>
              </a:rPr>
              <a:t>  grant_mMTC  = remaining × 30 %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A5A5A"/>
                </a:solidFill>
              </a:rPr>
              <a:t>  (ceder sobrante si hay poca demanda)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1E1E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CA02C"/>
                </a:solidFill>
              </a:rPr>
              <a:t>Garantía: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CA02C"/>
                </a:solidFill>
              </a:rPr>
              <a:t>  URLLC siempre transmite antes del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CA02C"/>
                </a:solidFill>
              </a:rPr>
              <a:t>  deadline, sin importar carga eMBB.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ED2F0"/>
                </a:solidFill>
              </a:rPr>
              <a:t>OmneTeam  |  TEL-341 Simulación de Redes  |  UTFSM  | 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0" y="65562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ED2F0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Módulos Implementados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ED2F0"/>
                </a:solidFill>
              </a:rPr>
              <a:t>OMNeT++ 6.0  —  C++17  —  ~15 archivos  —  sin frameworks externos (INET)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234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F77B4"/>
                </a:solidFill>
              </a:rPr>
              <a:t>Código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56692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228600" cy="685800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59" y="140817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A7A"/>
                </a:solidFill>
              </a:rPr>
              <a:t>OLT.h / .cc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59" y="16916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</a:rPr>
              <a:t>Motor central: envía POLLs, recibe REPORTs,
ejec. DBA, envía GRANTs. Registra cycleTime.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130552"/>
            <a:ext cx="56692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130552"/>
            <a:ext cx="228600" cy="685800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59" y="21671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A7A"/>
                </a:solidFill>
              </a:rPr>
              <a:t>ONU.h / .cc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59" y="245059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</a:rPr>
              <a:t>3 colas (eMBB/URLLC/mMTC), generadores de
tráfico, registro de latencia/jitter/throughput.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889504"/>
            <a:ext cx="56692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889504"/>
            <a:ext cx="228600" cy="6858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59" y="2926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77B4"/>
                </a:solidFill>
              </a:rPr>
              <a:t>IPACT.h / .cc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59" y="320954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</a:rPr>
              <a:t>Algoritmo estándar: grant proporcional
sin diferenciación de QoS.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648456"/>
            <a:ext cx="56692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648456"/>
            <a:ext cx="228600" cy="68580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59" y="368503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62728"/>
                </a:solidFill>
              </a:rPr>
              <a:t>QosDBA.h / .cc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59" y="396849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</a:rPr>
              <a:t>Algoritmo propuesto: prioridad URLLC
+ WFQ(70/30) para eMBB/mMTC.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1371600"/>
            <a:ext cx="56692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1371600"/>
            <a:ext cx="228600" cy="685800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79" y="140817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A5A5A"/>
                </a:solidFill>
              </a:rPr>
              <a:t>Splitter.h / .cc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79" y="16916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</a:rPr>
              <a:t>Reenvío pasivo: recibe por un puerto,
transmite a todos los demás.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2130552"/>
            <a:ext cx="56692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2130552"/>
            <a:ext cx="228600" cy="6858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79" y="21671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77B4"/>
                </a:solidFill>
              </a:rPr>
              <a:t>PONMessages.msg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79" y="245059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</a:rPr>
              <a:t>DataPacket · ReportMessage · GrantMessage
(compilados auto. por opp_msgc a C++)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2889504"/>
            <a:ext cx="56692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2889504"/>
            <a:ext cx="228600" cy="685800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79" y="2926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A7A"/>
                </a:solidFill>
              </a:rPr>
              <a:t>PONNetwork.ned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79" y="320954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</a:rPr>
              <a:t>Topología parametrizable: OLT + splitter
+ onu[numONUs]. Display strings para Qtenv.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6263640"/>
            <a:ext cx="11612880" cy="411480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29107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★  GUI Qtenv: mensajes animados con colores (eMBB=verde, URLLC=rojo, mMTC=naranja, REPORT=azul, GRANT=cyan)  •  Bubbles en descarte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ED2F0"/>
                </a:solidFill>
              </a:rPr>
              <a:t>OmneTeam  |  TEL-341 Simulación de Redes  |  UTFSM  | 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704320" y="65562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ED2F0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Estado de las Simulaciones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ED2F0"/>
                </a:solidFill>
              </a:rPr>
              <a:t>24 corridas completadas  •  4 escenarios planificados  •  16 ONUs operativo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234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F77B4"/>
                </a:solidFill>
              </a:rPr>
              <a:t>Experimentos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2240280" cy="457200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14904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Configuración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1417320"/>
            <a:ext cx="1325880" cy="457200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24328" y="149047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Algoritmo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1417320"/>
            <a:ext cx="685800" cy="457200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95928" y="149047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ONUs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417320"/>
            <a:ext cx="1965960" cy="457200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7448" y="149047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Carga eMBB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1417320"/>
            <a:ext cx="685800" cy="457200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149047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Reps.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1417320"/>
            <a:ext cx="1783080" cy="457200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70648" y="14904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Estado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874519"/>
            <a:ext cx="224028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" y="19659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</a:rPr>
              <a:t>IPACT_16ONU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1874519"/>
            <a:ext cx="132588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24328" y="196596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</a:rPr>
              <a:t>IPACT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31920" y="1874519"/>
            <a:ext cx="68580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95928" y="196596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</a:rPr>
              <a:t>16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1874519"/>
            <a:ext cx="196596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27448" y="196596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</a:rPr>
              <a:t>50/100/150/200 Mbps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1874519"/>
            <a:ext cx="68580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39128" y="196596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1874519"/>
            <a:ext cx="1783080" cy="502920"/>
          </a:xfrm>
          <a:prstGeom prst="rect">
            <a:avLst/>
          </a:prstGeom>
          <a:solidFill>
            <a:srgbClr val="2CA02C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70648" y="19659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✓ Completado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423160"/>
            <a:ext cx="2240280" cy="502920"/>
          </a:xfrm>
          <a:prstGeom prst="rect">
            <a:avLst/>
          </a:prstGeom>
          <a:solidFill>
            <a:srgbClr val="F0F0F5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8328" y="251460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</a:rPr>
              <a:t>QoSDBA_16ONU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60320" y="2423160"/>
            <a:ext cx="1325880" cy="502920"/>
          </a:xfrm>
          <a:prstGeom prst="rect">
            <a:avLst/>
          </a:prstGeom>
          <a:solidFill>
            <a:srgbClr val="F0F0F5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24328" y="251460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</a:rPr>
              <a:t>QoS-DBA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31920" y="2423160"/>
            <a:ext cx="685800" cy="502920"/>
          </a:xfrm>
          <a:prstGeom prst="rect">
            <a:avLst/>
          </a:prstGeom>
          <a:solidFill>
            <a:srgbClr val="F0F0F5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95928" y="251460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</a:rPr>
              <a:t>16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63440" y="2423160"/>
            <a:ext cx="1965960" cy="502920"/>
          </a:xfrm>
          <a:prstGeom prst="rect">
            <a:avLst/>
          </a:prstGeom>
          <a:solidFill>
            <a:srgbClr val="F0F0F5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27448" y="25146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</a:rPr>
              <a:t>50/100/150/200 Mbps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75120" y="2423160"/>
            <a:ext cx="685800" cy="502920"/>
          </a:xfrm>
          <a:prstGeom prst="rect">
            <a:avLst/>
          </a:prstGeom>
          <a:solidFill>
            <a:srgbClr val="F0F0F5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39128" y="251460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</a:rPr>
              <a:t>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06640" y="2423160"/>
            <a:ext cx="1783080" cy="502920"/>
          </a:xfrm>
          <a:prstGeom prst="rect">
            <a:avLst/>
          </a:prstGeom>
          <a:solidFill>
            <a:srgbClr val="2CA02C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70648" y="251460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✓ Completado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2971800"/>
            <a:ext cx="224028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8328" y="30632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</a:rPr>
              <a:t>IPACT_32ONU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60320" y="2971800"/>
            <a:ext cx="132588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24328" y="30632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</a:rPr>
              <a:t>IPACT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931920" y="2971800"/>
            <a:ext cx="68580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995928" y="306324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</a:rPr>
              <a:t>32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63440" y="2971800"/>
            <a:ext cx="196596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27448" y="306324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</a:rPr>
              <a:t>50/100/150/200 Mbps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75120" y="2971800"/>
            <a:ext cx="68580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39128" y="306324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06640" y="2971800"/>
            <a:ext cx="1783080" cy="502920"/>
          </a:xfrm>
          <a:prstGeom prst="rect">
            <a:avLst/>
          </a:prstGeom>
          <a:solidFill>
            <a:srgbClr val="FFC107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70648" y="306324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Pendiente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3520439"/>
            <a:ext cx="2240280" cy="502920"/>
          </a:xfrm>
          <a:prstGeom prst="rect">
            <a:avLst/>
          </a:prstGeom>
          <a:solidFill>
            <a:srgbClr val="F0F0F5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8328" y="3611879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</a:rPr>
              <a:t>QoSDBA_32ONU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560320" y="3520439"/>
            <a:ext cx="1325880" cy="502920"/>
          </a:xfrm>
          <a:prstGeom prst="rect">
            <a:avLst/>
          </a:prstGeom>
          <a:solidFill>
            <a:srgbClr val="F0F0F5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24328" y="3611879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</a:rPr>
              <a:t>QoS-DBA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31920" y="3520439"/>
            <a:ext cx="685800" cy="502920"/>
          </a:xfrm>
          <a:prstGeom prst="rect">
            <a:avLst/>
          </a:prstGeom>
          <a:solidFill>
            <a:srgbClr val="F0F0F5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995928" y="3611879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</a:rPr>
              <a:t>32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663440" y="3520439"/>
            <a:ext cx="1965960" cy="502920"/>
          </a:xfrm>
          <a:prstGeom prst="rect">
            <a:avLst/>
          </a:prstGeom>
          <a:solidFill>
            <a:srgbClr val="F0F0F5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727448" y="3611879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</a:rPr>
              <a:t>50/100/150/200 Mbps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75120" y="3520439"/>
            <a:ext cx="685800" cy="502920"/>
          </a:xfrm>
          <a:prstGeom prst="rect">
            <a:avLst/>
          </a:prstGeom>
          <a:solidFill>
            <a:srgbClr val="F0F0F5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739128" y="3611879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</a:rPr>
              <a:t>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406640" y="3520439"/>
            <a:ext cx="1783080" cy="502920"/>
          </a:xfrm>
          <a:prstGeom prst="rect">
            <a:avLst/>
          </a:prstGeom>
          <a:solidFill>
            <a:srgbClr val="FFC107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70648" y="3611879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Pendiente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4663440"/>
            <a:ext cx="116128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720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A7A"/>
                </a:solidFill>
              </a:rPr>
              <a:t>Trabajo pendiente para completar el proyecto: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512064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E1E1E"/>
                </a:solidFill>
              </a:rPr>
              <a:t>①  Aumentar a 10 repeticiones → intervalos de confianza 95 % estadísticamente válidos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1E1E"/>
                </a:solidFill>
              </a:rPr>
              <a:t>②  Ejecutar escenarios 32 ONUs → evaluar escalabilidad del comportamiento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1E1E"/>
                </a:solidFill>
              </a:rPr>
              <a:t>③  Análisis estadístico completo: IC95 %, tests de hipótesis, verificación distribuciones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1E1E"/>
                </a:solidFill>
              </a:rPr>
              <a:t>④  Informe final IEEE + demo GUI Qtenv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7432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ED2F0"/>
                </a:solidFill>
              </a:rPr>
              <a:t>OmneTeam  |  TEL-341 Simulación de Redes  |  UTFSM  |  2026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704320" y="65562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ED2F0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Resultados Preliminares — Tasa de Pérdida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ED2F0"/>
                </a:solidFill>
              </a:rPr>
              <a:t>Métrica más importante: lossURLLC  |  Carga 50–200 Mbps  |  16 ONUs  |  3 repeticiones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234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F77B4"/>
                </a:solidFill>
              </a:rPr>
              <a:t>Resultados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1783080" cy="457200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14904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Algoritmo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1417320"/>
            <a:ext cx="1600200" cy="457200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67128" y="149047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Carga eMBB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39" y="1417320"/>
            <a:ext cx="2240280" cy="457200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3048" y="14904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Pérdida URLLC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417320"/>
            <a:ext cx="1783080" cy="457200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8" y="14904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Pérdida eMBB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1417320"/>
            <a:ext cx="1783080" cy="457200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7848" y="14904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Pérdida mMTC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874519"/>
            <a:ext cx="1783080" cy="457200"/>
          </a:xfrm>
          <a:prstGeom prst="rect">
            <a:avLst/>
          </a:prstGeom>
          <a:solidFill>
            <a:srgbClr val="EBF2FC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" y="1965960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5A5A"/>
                </a:solidFill>
              </a:rPr>
              <a:t>IPACT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03120" y="1874519"/>
            <a:ext cx="1600200" cy="457200"/>
          </a:xfrm>
          <a:prstGeom prst="rect">
            <a:avLst/>
          </a:prstGeom>
          <a:solidFill>
            <a:srgbClr val="EBF2FC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67128" y="1965960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5A5A"/>
                </a:solidFill>
              </a:rPr>
              <a:t>50 Mbps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49039" y="1874519"/>
            <a:ext cx="2240280" cy="457200"/>
          </a:xfrm>
          <a:prstGeom prst="rect">
            <a:avLst/>
          </a:prstGeom>
          <a:solidFill>
            <a:srgbClr val="D62728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13048" y="1965960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75.8 %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1874519"/>
            <a:ext cx="1783080" cy="457200"/>
          </a:xfrm>
          <a:prstGeom prst="rect">
            <a:avLst/>
          </a:prstGeom>
          <a:solidFill>
            <a:srgbClr val="EBF2FC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9048" y="1965960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5A5A"/>
                </a:solidFill>
              </a:rPr>
              <a:t>0.1 %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0" y="1874519"/>
            <a:ext cx="1783080" cy="457200"/>
          </a:xfrm>
          <a:prstGeom prst="rect">
            <a:avLst/>
          </a:prstGeom>
          <a:solidFill>
            <a:srgbClr val="EBF2FC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27848" y="1965960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5A5A"/>
                </a:solidFill>
              </a:rPr>
              <a:t>≈ 0 %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350008"/>
            <a:ext cx="1783080" cy="457200"/>
          </a:xfrm>
          <a:prstGeom prst="rect">
            <a:avLst/>
          </a:prstGeom>
          <a:solidFill>
            <a:srgbClr val="EBF2FC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328" y="2441448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5A5A"/>
                </a:solidFill>
              </a:rPr>
              <a:t>IPACT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03120" y="2350008"/>
            <a:ext cx="1600200" cy="457200"/>
          </a:xfrm>
          <a:prstGeom prst="rect">
            <a:avLst/>
          </a:prstGeom>
          <a:solidFill>
            <a:srgbClr val="EBF2FC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67128" y="2441448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5A5A"/>
                </a:solidFill>
              </a:rPr>
              <a:t>100 Mbps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49039" y="2350008"/>
            <a:ext cx="2240280" cy="457200"/>
          </a:xfrm>
          <a:prstGeom prst="rect">
            <a:avLst/>
          </a:prstGeom>
          <a:solidFill>
            <a:srgbClr val="D62728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3048" y="2441448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86.8 %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2350008"/>
            <a:ext cx="1783080" cy="457200"/>
          </a:xfrm>
          <a:prstGeom prst="rect">
            <a:avLst/>
          </a:prstGeom>
          <a:solidFill>
            <a:srgbClr val="EBF2FC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99048" y="2441448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5A5A"/>
                </a:solidFill>
              </a:rPr>
              <a:t>49.0 %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63840" y="2350008"/>
            <a:ext cx="1783080" cy="457200"/>
          </a:xfrm>
          <a:prstGeom prst="rect">
            <a:avLst/>
          </a:prstGeom>
          <a:solidFill>
            <a:srgbClr val="EBF2FC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27848" y="2441448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5A5A"/>
                </a:solidFill>
              </a:rPr>
              <a:t>≈ 0 %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2825496"/>
            <a:ext cx="1783080" cy="457200"/>
          </a:xfrm>
          <a:prstGeom prst="rect">
            <a:avLst/>
          </a:prstGeom>
          <a:solidFill>
            <a:srgbClr val="EBF2FC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8328" y="2916936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5A5A"/>
                </a:solidFill>
              </a:rPr>
              <a:t>IPACT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03120" y="2825496"/>
            <a:ext cx="1600200" cy="457200"/>
          </a:xfrm>
          <a:prstGeom prst="rect">
            <a:avLst/>
          </a:prstGeom>
          <a:solidFill>
            <a:srgbClr val="EBF2FC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67128" y="2916936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5A5A"/>
                </a:solidFill>
              </a:rPr>
              <a:t>150 Mbps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49039" y="2825496"/>
            <a:ext cx="2240280" cy="457200"/>
          </a:xfrm>
          <a:prstGeom prst="rect">
            <a:avLst/>
          </a:prstGeom>
          <a:solidFill>
            <a:srgbClr val="D62728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13048" y="2916936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86.9 %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2825496"/>
            <a:ext cx="1783080" cy="457200"/>
          </a:xfrm>
          <a:prstGeom prst="rect">
            <a:avLst/>
          </a:prstGeom>
          <a:solidFill>
            <a:srgbClr val="EBF2FC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99048" y="2916936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5A5A"/>
                </a:solidFill>
              </a:rPr>
              <a:t>66.0 %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63840" y="2825496"/>
            <a:ext cx="1783080" cy="457200"/>
          </a:xfrm>
          <a:prstGeom prst="rect">
            <a:avLst/>
          </a:prstGeom>
          <a:solidFill>
            <a:srgbClr val="EBF2FC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27848" y="2916936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5A5A"/>
                </a:solidFill>
              </a:rPr>
              <a:t>≈ 0 %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3300984"/>
            <a:ext cx="1783080" cy="457200"/>
          </a:xfrm>
          <a:prstGeom prst="rect">
            <a:avLst/>
          </a:prstGeom>
          <a:solidFill>
            <a:srgbClr val="EBF2FC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8328" y="3392424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5A5A"/>
                </a:solidFill>
              </a:rPr>
              <a:t>IPACT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03120" y="3300984"/>
            <a:ext cx="1600200" cy="457200"/>
          </a:xfrm>
          <a:prstGeom prst="rect">
            <a:avLst/>
          </a:prstGeom>
          <a:solidFill>
            <a:srgbClr val="EBF2FC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167128" y="3392424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5A5A"/>
                </a:solidFill>
              </a:rPr>
              <a:t>200 Mbps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749039" y="3300984"/>
            <a:ext cx="2240280" cy="457200"/>
          </a:xfrm>
          <a:prstGeom prst="rect">
            <a:avLst/>
          </a:prstGeom>
          <a:solidFill>
            <a:srgbClr val="D62728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13048" y="3392424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87.0 %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35040" y="3300984"/>
            <a:ext cx="1783080" cy="457200"/>
          </a:xfrm>
          <a:prstGeom prst="rect">
            <a:avLst/>
          </a:prstGeom>
          <a:solidFill>
            <a:srgbClr val="EBF2FC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99048" y="3392424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5A5A"/>
                </a:solidFill>
              </a:rPr>
              <a:t>74.5 %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63840" y="3300984"/>
            <a:ext cx="1783080" cy="457200"/>
          </a:xfrm>
          <a:prstGeom prst="rect">
            <a:avLst/>
          </a:prstGeom>
          <a:solidFill>
            <a:srgbClr val="EBF2FC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27848" y="3392424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5A5A"/>
                </a:solidFill>
              </a:rPr>
              <a:t>≈ 0 %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3776472"/>
            <a:ext cx="1783080" cy="457200"/>
          </a:xfrm>
          <a:prstGeom prst="rect">
            <a:avLst/>
          </a:prstGeom>
          <a:solidFill>
            <a:srgbClr val="FCEDED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38328" y="3867911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5A5A"/>
                </a:solidFill>
              </a:rPr>
              <a:t>QoS-DBA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103120" y="3776472"/>
            <a:ext cx="1600200" cy="457200"/>
          </a:xfrm>
          <a:prstGeom prst="rect">
            <a:avLst/>
          </a:prstGeom>
          <a:solidFill>
            <a:srgbClr val="FCEDED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167128" y="3867911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5A5A"/>
                </a:solidFill>
              </a:rPr>
              <a:t>50 Mbps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749039" y="3776472"/>
            <a:ext cx="2240280" cy="457200"/>
          </a:xfrm>
          <a:prstGeom prst="rect">
            <a:avLst/>
          </a:prstGeom>
          <a:solidFill>
            <a:srgbClr val="2CA02C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813048" y="3867911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0.0 %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35040" y="3776472"/>
            <a:ext cx="1783080" cy="457200"/>
          </a:xfrm>
          <a:prstGeom prst="rect">
            <a:avLst/>
          </a:prstGeom>
          <a:solidFill>
            <a:srgbClr val="FCEDED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99048" y="3867911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5A5A"/>
                </a:solidFill>
              </a:rPr>
              <a:t>8.1 %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63840" y="3776472"/>
            <a:ext cx="1783080" cy="457200"/>
          </a:xfrm>
          <a:prstGeom prst="rect">
            <a:avLst/>
          </a:prstGeom>
          <a:solidFill>
            <a:srgbClr val="FCEDED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27848" y="3867911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5A5A"/>
                </a:solidFill>
              </a:rPr>
              <a:t>≈ 0 %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4251960"/>
            <a:ext cx="1783080" cy="457200"/>
          </a:xfrm>
          <a:prstGeom prst="rect">
            <a:avLst/>
          </a:prstGeom>
          <a:solidFill>
            <a:srgbClr val="FCEDED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38328" y="4343400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5A5A"/>
                </a:solidFill>
              </a:rPr>
              <a:t>QoS-DBA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103120" y="4251960"/>
            <a:ext cx="1600200" cy="457200"/>
          </a:xfrm>
          <a:prstGeom prst="rect">
            <a:avLst/>
          </a:prstGeom>
          <a:solidFill>
            <a:srgbClr val="FCEDED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67128" y="4343400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5A5A"/>
                </a:solidFill>
              </a:rPr>
              <a:t>100 Mbps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749039" y="4251960"/>
            <a:ext cx="2240280" cy="457200"/>
          </a:xfrm>
          <a:prstGeom prst="rect">
            <a:avLst/>
          </a:prstGeom>
          <a:solidFill>
            <a:srgbClr val="2CA02C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813048" y="4343400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0.0 %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35040" y="4251960"/>
            <a:ext cx="1783080" cy="457200"/>
          </a:xfrm>
          <a:prstGeom prst="rect">
            <a:avLst/>
          </a:prstGeom>
          <a:solidFill>
            <a:srgbClr val="FCEDED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099048" y="4343400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5A5A"/>
                </a:solidFill>
              </a:rPr>
              <a:t>53.9 %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863840" y="4251960"/>
            <a:ext cx="1783080" cy="457200"/>
          </a:xfrm>
          <a:prstGeom prst="rect">
            <a:avLst/>
          </a:prstGeom>
          <a:solidFill>
            <a:srgbClr val="FCEDED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927848" y="4343400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5A5A"/>
                </a:solidFill>
              </a:rPr>
              <a:t>≈ 0 %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" y="4727448"/>
            <a:ext cx="1783080" cy="457200"/>
          </a:xfrm>
          <a:prstGeom prst="rect">
            <a:avLst/>
          </a:prstGeom>
          <a:solidFill>
            <a:srgbClr val="FCEDED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38328" y="4818888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5A5A"/>
                </a:solidFill>
              </a:rPr>
              <a:t>QoS-DBA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103120" y="4727448"/>
            <a:ext cx="1600200" cy="457200"/>
          </a:xfrm>
          <a:prstGeom prst="rect">
            <a:avLst/>
          </a:prstGeom>
          <a:solidFill>
            <a:srgbClr val="FCEDED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167128" y="4818888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5A5A"/>
                </a:solidFill>
              </a:rPr>
              <a:t>150 Mbps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749039" y="4727448"/>
            <a:ext cx="2240280" cy="457200"/>
          </a:xfrm>
          <a:prstGeom prst="rect">
            <a:avLst/>
          </a:prstGeom>
          <a:solidFill>
            <a:srgbClr val="2CA02C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813048" y="4818888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0.0 %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035040" y="4727448"/>
            <a:ext cx="1783080" cy="457200"/>
          </a:xfrm>
          <a:prstGeom prst="rect">
            <a:avLst/>
          </a:prstGeom>
          <a:solidFill>
            <a:srgbClr val="FCEDED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099048" y="4818888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5A5A"/>
                </a:solidFill>
              </a:rPr>
              <a:t>69.2 %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863840" y="4727448"/>
            <a:ext cx="1783080" cy="457200"/>
          </a:xfrm>
          <a:prstGeom prst="rect">
            <a:avLst/>
          </a:prstGeom>
          <a:solidFill>
            <a:srgbClr val="FCEDED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927848" y="4818888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5A5A"/>
                </a:solidFill>
              </a:rPr>
              <a:t>≈ 0 %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74320" y="5202936"/>
            <a:ext cx="1783080" cy="457200"/>
          </a:xfrm>
          <a:prstGeom prst="rect">
            <a:avLst/>
          </a:prstGeom>
          <a:solidFill>
            <a:srgbClr val="FCEDED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38328" y="5294375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5A5A"/>
                </a:solidFill>
              </a:rPr>
              <a:t>QoS-DBA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103120" y="5202936"/>
            <a:ext cx="1600200" cy="457200"/>
          </a:xfrm>
          <a:prstGeom prst="rect">
            <a:avLst/>
          </a:prstGeom>
          <a:solidFill>
            <a:srgbClr val="FCEDED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167128" y="5294375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5A5A"/>
                </a:solidFill>
              </a:rPr>
              <a:t>200 Mbps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749039" y="5202936"/>
            <a:ext cx="2240280" cy="457200"/>
          </a:xfrm>
          <a:prstGeom prst="rect">
            <a:avLst/>
          </a:prstGeom>
          <a:solidFill>
            <a:srgbClr val="2CA02C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813048" y="5294375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0.0 %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035040" y="5202936"/>
            <a:ext cx="1783080" cy="457200"/>
          </a:xfrm>
          <a:prstGeom prst="rect">
            <a:avLst/>
          </a:prstGeom>
          <a:solidFill>
            <a:srgbClr val="FCEDED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099048" y="5294375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5A5A"/>
                </a:solidFill>
              </a:rPr>
              <a:t>76.9 %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863840" y="5202936"/>
            <a:ext cx="1783080" cy="457200"/>
          </a:xfrm>
          <a:prstGeom prst="rect">
            <a:avLst/>
          </a:prstGeom>
          <a:solidFill>
            <a:srgbClr val="FCEDED"/>
          </a:solidFill>
          <a:ln w="381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927848" y="5294375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5A5A"/>
                </a:solidFill>
              </a:rPr>
              <a:t>≈ 0 %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74320" y="6080760"/>
            <a:ext cx="11612880" cy="502920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57200" y="61264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★  Con IPACT: 3 de cada 4 paquetes URLLC se pierden incluso a carga baja  |  Con QoS-DBA: pérdida URLLC = 0 % en todos los escenarios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7432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ED2F0"/>
                </a:solidFill>
              </a:rPr>
              <a:t>OmneTeam  |  TEL-341 Simulación de Redes  |  UTFSM  |  2026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1704320" y="65562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ED2F0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Gráfico: Tasa de Pérdida por Clase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ED2F0"/>
                </a:solidFill>
              </a:rPr>
              <a:t>Escala logarítmica  |  Carga eMBB = 200 Mbps  |  Diferencia de 5 órdenes de magnitud en URLLC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234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F77B4"/>
                </a:solidFill>
              </a:rPr>
              <a:t>Gráfico 1/4</a:t>
            </a:r>
          </a:p>
        </p:txBody>
      </p:sp>
      <p:pic>
        <p:nvPicPr>
          <p:cNvPr id="7" name="Picture 6" descr="packet_loss_by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25880"/>
            <a:ext cx="6858000" cy="5029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498079" y="1325880"/>
            <a:ext cx="438912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14173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A7A"/>
                </a:solidFill>
              </a:rPr>
              <a:t>Cómo leer este gráfico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920240"/>
            <a:ext cx="4023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003A7A"/>
                </a:solidFill>
              </a:rPr>
              <a:t>Eje Y en escala logarítmica: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1E1E"/>
                </a:solidFill>
              </a:rPr>
              <a:t>  Permite ver diferencias de muchos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1E1E"/>
                </a:solidFill>
              </a:rPr>
              <a:t>  órdenes de magnitud en una figura.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1E1E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F77B4"/>
                </a:solidFill>
              </a:rPr>
              <a:t>eMBB (izquierda):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1E1E"/>
                </a:solidFill>
              </a:rPr>
              <a:t>  Ambos ~75–77 %. Canal saturado.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1E1E"/>
                </a:solidFill>
              </a:rPr>
              <a:t>  La diferencia entre algoritmos es mínima.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1E1E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D62728"/>
                </a:solidFill>
              </a:rPr>
              <a:t>URLLC (centro):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D62728"/>
                </a:solidFill>
              </a:rPr>
              <a:t>  IPACT → ~87 % (barra azul llena)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A02C"/>
                </a:solidFill>
              </a:rPr>
              <a:t>  QoS-DBA → ~0 % (barra roja al piso)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D62728"/>
                </a:solidFill>
              </a:rPr>
              <a:t>  Diferencia: 5 órdenes de magnitud.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1E1E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F7F0E"/>
                </a:solidFill>
              </a:rPr>
              <a:t>mMTC (derecha):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1E1E"/>
                </a:solidFill>
              </a:rPr>
              <a:t>  Ambos ~0 %. Tasa baja, sin problema.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1E1E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2CA02C"/>
                </a:solidFill>
              </a:rPr>
              <a:t>Conclusión: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2CA02C"/>
                </a:solidFill>
              </a:rPr>
              <a:t>  QoS-DBA elimina completamente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2CA02C"/>
                </a:solidFill>
              </a:rPr>
              <a:t>  la pérdida de tráfico crítico.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ED2F0"/>
                </a:solidFill>
              </a:rPr>
              <a:t>OmneTeam  |  TEL-341 Simulación de Redes  |  UTFSM  |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0" y="65562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ED2F0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Gráfico: CDF de Latencia URLLC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ED2F0"/>
                </a:solidFill>
              </a:rPr>
              <a:t>Distribución acumulada  |  Carga 200 Mbps  |  Eje X logarítmico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234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F77B4"/>
                </a:solidFill>
              </a:rPr>
              <a:t>Gráfico 2/4</a:t>
            </a:r>
          </a:p>
        </p:txBody>
      </p:sp>
      <p:pic>
        <p:nvPicPr>
          <p:cNvPr id="7" name="Picture 6" descr="cdf_latency_urll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25880"/>
            <a:ext cx="6858000" cy="5029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498079" y="1325880"/>
            <a:ext cx="438912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14173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A7A"/>
                </a:solidFill>
              </a:rPr>
              <a:t>Cómo leer este gráfico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920240"/>
            <a:ext cx="4023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E1E1E"/>
                </a:solidFill>
              </a:rPr>
              <a:t>La CDF muestra qué fracción de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1E1E"/>
                </a:solidFill>
              </a:rPr>
              <a:t>paquetes tiene latencia ≤ X μs.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1E1E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D62728"/>
                </a:solidFill>
              </a:rPr>
              <a:t>QoS-DBA (rojo):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1E1E"/>
                </a:solidFill>
              </a:rPr>
              <a:t>  Curva suave 100–3 000 μs.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1E1E"/>
                </a:solidFill>
              </a:rPr>
              <a:t>  P50 ≈ 1 500 μs (1.5 ms)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1E1E"/>
                </a:solidFill>
              </a:rPr>
              <a:t>  P99 ≈ 2 500 μs (2.5 ms)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2CA02C"/>
                </a:solidFill>
              </a:rPr>
              <a:t>  100% dentro del deadline (10 ms).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1E1E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F77B4"/>
                </a:solidFill>
              </a:rPr>
              <a:t>IPACT (azul):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1E1E"/>
                </a:solidFill>
              </a:rPr>
              <a:t>  Salto brusco en ~9 000–10 000 μs.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1E1E"/>
                </a:solidFill>
              </a:rPr>
              <a:t>  Solo los paquetes que 'sobreviven'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D62728"/>
                </a:solidFill>
              </a:rPr>
              <a:t>  lo hacen al límite del deadline.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D62728"/>
                </a:solidFill>
              </a:rPr>
              <a:t>  El 87% fue descartado antes.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1E1E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1E1E"/>
                </a:solidFill>
              </a:rPr>
              <a:t>La línea vertical roja es el deadline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1E1E"/>
                </a:solidFill>
              </a:rPr>
              <a:t>(10 ms = 10 000 μs).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2CA02C"/>
                </a:solidFill>
              </a:rPr>
              <a:t>QoS-DBA opera 4× por debajo.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ED2F0"/>
                </a:solidFill>
              </a:rPr>
              <a:t>OmneTeam  |  TEL-341 Simulación de Redes  |  UTFSM  |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0" y="65562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ED2F0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Latencia Promedio y P99 URLLC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ED2F0"/>
                </a:solidFill>
              </a:rPr>
              <a:t>eMBB/URLLC/mMTC vs carga  |  QoS-DBA reduce latencia URLLC en 10×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234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F77B4"/>
                </a:solidFill>
              </a:rPr>
              <a:t>Gráfico 3/4</a:t>
            </a:r>
          </a:p>
        </p:txBody>
      </p:sp>
      <p:pic>
        <p:nvPicPr>
          <p:cNvPr id="7" name="Picture 6" descr="latency_avg_by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80160"/>
            <a:ext cx="5669280" cy="4206240"/>
          </a:xfrm>
          <a:prstGeom prst="rect">
            <a:avLst/>
          </a:prstGeom>
        </p:spPr>
      </p:pic>
      <p:pic>
        <p:nvPicPr>
          <p:cNvPr id="8" name="Picture 7" descr="latency_p99_urllc_vs_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280160"/>
            <a:ext cx="6035040" cy="42062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82880" y="5486400"/>
            <a:ext cx="56692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5577840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03A7A"/>
                </a:solidFill>
              </a:rPr>
              <a:t>Latencia promedio (izquierda):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E1E1E"/>
                </a:solidFill>
              </a:rPr>
              <a:t>URLLC: IPACT ~10 ms  vs  QoS-DBA ~1 ms  (10× mejor)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E1E1E"/>
                </a:solidFill>
              </a:rPr>
              <a:t>mMTC: IPACT ~85 ms  vs  QoS-DBA ~1 ms  (85× mejor)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5A5A5A"/>
                </a:solidFill>
              </a:rPr>
              <a:t>eMBB mayor en QoS-DBA: sesgo de supervivencia (más paquetes sirven, esperan más)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5486400"/>
            <a:ext cx="60350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5577840"/>
            <a:ext cx="5669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03A7A"/>
                </a:solidFill>
              </a:rPr>
              <a:t>P99 URLLC vs carga (derecha):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D62728"/>
                </a:solidFill>
              </a:rPr>
              <a:t>IPACT: P99 = 10 ms en todos los niveles → siempre al límite del deadline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CA02C"/>
                </a:solidFill>
              </a:rPr>
              <a:t>QoS-DBA: P99 ≈ 2.4 ms constante → independiente de la carga eMBB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5A5A5A"/>
                </a:solidFill>
              </a:rPr>
              <a:t>Ambas curvas son planas: el mecanismo DBA domina, no la carga ofrecida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ED2F0"/>
                </a:solidFill>
              </a:rPr>
              <a:t>OmneTeam  |  TEL-341 Simulación de Redes  |  UTFSM  | 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0" y="65562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ED2F0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Dashboard — Comparación Completa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ED2F0"/>
                </a:solidFill>
              </a:rPr>
              <a:t>4 métricas en una figura  |  Resultado central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234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F77B4"/>
                </a:solidFill>
              </a:rPr>
              <a:t>Resumen</a:t>
            </a:r>
          </a:p>
        </p:txBody>
      </p:sp>
      <p:pic>
        <p:nvPicPr>
          <p:cNvPr id="7" name="Picture 6" descr="summary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11612880" cy="53949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ED2F0"/>
                </a:solidFill>
              </a:rPr>
              <a:t>OmneTeam  |  TEL-341 Simulación de Redes  |  UTFSM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0" y="65562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ED2F0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Próximos Pasos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ED2F0"/>
                </a:solidFill>
              </a:rPr>
              <a:t>Para completar el proyecto y el informe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234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F77B4"/>
                </a:solidFill>
              </a:rPr>
              <a:t>Pendiente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566928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640080" cy="2194560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14884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44475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A7A"/>
                </a:solidFill>
              </a:rPr>
              <a:t>10 repeticiones</a:t>
            </a:r>
          </a:p>
        </p:txBody>
      </p:sp>
      <p:sp>
        <p:nvSpPr>
          <p:cNvPr id="11" name="Oval 10"/>
          <p:cNvSpPr/>
          <p:nvPr/>
        </p:nvSpPr>
        <p:spPr>
          <a:xfrm>
            <a:off x="1051560" y="1938528"/>
            <a:ext cx="1828800" cy="320040"/>
          </a:xfrm>
          <a:prstGeom prst="ellipse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Prioridad Alta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331720"/>
            <a:ext cx="4663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</a:rPr>
              <a:t>Ampliar de 3 a 10 corridas por escenario.
Permite IC 95 % estadísticamente válidos.
Estimado: ~15 min de cómputo adicional.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371600"/>
            <a:ext cx="566928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371600"/>
            <a:ext cx="640080" cy="21945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214884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79" y="144475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77B4"/>
                </a:solidFill>
              </a:rPr>
              <a:t>Escenarios 32 ONUs</a:t>
            </a:r>
          </a:p>
        </p:txBody>
      </p:sp>
      <p:sp>
        <p:nvSpPr>
          <p:cNvPr id="17" name="Oval 16"/>
          <p:cNvSpPr/>
          <p:nvPr/>
        </p:nvSpPr>
        <p:spPr>
          <a:xfrm>
            <a:off x="7040879" y="1938528"/>
            <a:ext cx="1828800" cy="320040"/>
          </a:xfrm>
          <a:prstGeom prst="ellipse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Prioridad Alta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79" y="2331720"/>
            <a:ext cx="4663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</a:rPr>
              <a:t>Ejecutar IPACT_32ONU y QoSDBA_32ONU.
Evalúa escalabilidad: ¿se mantiene la
protección URLLC con más usuarios?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749039"/>
            <a:ext cx="566928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749039"/>
            <a:ext cx="640080" cy="219456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4526279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822191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62728"/>
                </a:solidFill>
              </a:rPr>
              <a:t>Análisis estadístico</a:t>
            </a:r>
          </a:p>
        </p:txBody>
      </p:sp>
      <p:sp>
        <p:nvSpPr>
          <p:cNvPr id="23" name="Oval 22"/>
          <p:cNvSpPr/>
          <p:nvPr/>
        </p:nvSpPr>
        <p:spPr>
          <a:xfrm>
            <a:off x="1051560" y="4315968"/>
            <a:ext cx="1828800" cy="320040"/>
          </a:xfrm>
          <a:prstGeom prst="ellipse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Prioridad Media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709159"/>
            <a:ext cx="4663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</a:rPr>
              <a:t>IC 95 % con t-Student, tests Mann-Whitney U,
verificación de distribuciones (KS test),
resultados con significancia estadística.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749039"/>
            <a:ext cx="566928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3749039"/>
            <a:ext cx="640080" cy="219456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59" y="4526279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79" y="3822191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CA02C"/>
                </a:solidFill>
              </a:rPr>
              <a:t>Informe + Demo GUI</a:t>
            </a:r>
          </a:p>
        </p:txBody>
      </p:sp>
      <p:sp>
        <p:nvSpPr>
          <p:cNvPr id="29" name="Oval 28"/>
          <p:cNvSpPr/>
          <p:nvPr/>
        </p:nvSpPr>
        <p:spPr>
          <a:xfrm>
            <a:off x="7040879" y="4315968"/>
            <a:ext cx="1828800" cy="320040"/>
          </a:xfrm>
          <a:prstGeom prst="ellipse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Prioridad Baja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79" y="4709159"/>
            <a:ext cx="4663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</a:rPr>
              <a:t>Informe final estilo IEEE con todas
las secciones formales. Demo Qtenv
con animación en vivo para presentación.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ED2F0"/>
                </a:solidFill>
              </a:rPr>
              <a:t>OmneTeam  |  TEL-341 Simulación de Redes  |  UTFSM  | 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704320" y="65562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ED2F0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246888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51960"/>
            <a:ext cx="12188952" cy="1371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Conclusión Preliminar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241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</a:rPr>
              <a:t>✓   IPACT falla en proteger URLLC: 75–87 % de pérdida desde carga moderada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90EE90"/>
                </a:solidFill>
              </a:rPr>
              <a:t>✓   QoS-DBA garantiza pérdida URLLC = 0 % en todos los niveles de carga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BED2F0"/>
                </a:solidFill>
              </a:rPr>
              <a:t>✓   El trade-off: eMBB pierde ~5 pp adicionales — el precio esperado por proteger URLLC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BED2F0"/>
                </a:solidFill>
              </a:rPr>
              <a:t>✓   El modelo compila, corre y produce resultados coherentes con la teoría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3A7A"/>
                </a:solidFill>
              </a:rPr>
              <a:t>¿Preguntas?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A5A5A"/>
                </a:solidFill>
              </a:rPr>
              <a:t>OmneTeam  ·  David Retuerto  ·  José Vega  ·  Matías Perelli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0350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5A5A"/>
                </a:solidFill>
              </a:rPr>
              <a:t>TEL-341 Simulación de Redes  ·  UTFSM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